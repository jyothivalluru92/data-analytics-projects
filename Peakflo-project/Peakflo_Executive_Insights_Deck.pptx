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6949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0B1F3A"/>
                </a:solidFill>
                <a:latin typeface="Aptos"/>
              </a:rPr>
              <a:t>Peakflo Competitive Review Analysis</a:t>
            </a:r>
          </a:p>
          <a:p>
            <a:r>
              <a:rPr lang="en-IN" sz="1600" b="1" dirty="0">
                <a:solidFill>
                  <a:srgbClr val="4A5568"/>
                </a:solidFill>
                <a:latin typeface="Aptos"/>
              </a:rPr>
              <a:t>Jyothi | Data Analyst</a:t>
            </a:r>
          </a:p>
          <a:p>
            <a:r>
              <a:rPr lang="en-IN" sz="1600" b="1" dirty="0">
                <a:solidFill>
                  <a:srgbClr val="4A5568"/>
                </a:solidFill>
                <a:latin typeface="Aptos"/>
              </a:rPr>
              <a:t>June 2026</a:t>
            </a:r>
            <a:endParaRPr sz="1600" b="1" dirty="0">
              <a:solidFill>
                <a:srgbClr val="4A5568"/>
              </a:solidFill>
              <a:latin typeface="Apto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85800" y="246888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 dirty="0">
                <a:solidFill>
                  <a:srgbClr val="0B1F3A"/>
                </a:solidFill>
                <a:latin typeface="Aptos"/>
              </a:rPr>
              <a:t>316</a:t>
            </a:r>
          </a:p>
          <a:p>
            <a:r>
              <a:rPr sz="1100" dirty="0">
                <a:solidFill>
                  <a:srgbClr val="4A5568"/>
                </a:solidFill>
                <a:latin typeface="Aptos"/>
              </a:rPr>
              <a:t>Total customer reviews analyzed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0" y="2468880"/>
            <a:ext cx="28346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4 companies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Peakflo vs. 3 competitors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246888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29400" y="2468880"/>
            <a:ext cx="2971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 dirty="0">
                <a:solidFill>
                  <a:srgbClr val="0B1F3A"/>
                </a:solidFill>
                <a:latin typeface="Aptos"/>
              </a:rPr>
              <a:t>6%</a:t>
            </a:r>
          </a:p>
          <a:p>
            <a:r>
              <a:rPr sz="1100" dirty="0">
                <a:solidFill>
                  <a:srgbClr val="4A5568"/>
                </a:solidFill>
                <a:latin typeface="Aptos"/>
              </a:rPr>
              <a:t>Peakflo negative-review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246888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219200" y="4002220"/>
            <a:ext cx="9153832" cy="2172437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600" b="1" dirty="0">
                <a:solidFill>
                  <a:srgbClr val="0B1F3A"/>
                </a:solidFill>
                <a:latin typeface="Aptos"/>
              </a:rPr>
              <a:t>Core message</a:t>
            </a:r>
          </a:p>
          <a:p>
            <a:pPr>
              <a:spcAft>
                <a:spcPts val="1000"/>
              </a:spcAft>
              <a:defRPr sz="1400">
                <a:solidFill>
                  <a:srgbClr val="4A5568"/>
                </a:solidFill>
                <a:latin typeface="Aptos"/>
              </a:defRPr>
            </a:pPr>
            <a:r>
              <a:rPr sz="1600" b="1" dirty="0"/>
              <a:t>Peakflo is positioned around stronger customer trust than key competitors.</a:t>
            </a:r>
          </a:p>
          <a:p>
            <a:pPr>
              <a:spcAft>
                <a:spcPts val="1000"/>
              </a:spcAft>
              <a:defRPr sz="1400">
                <a:solidFill>
                  <a:srgbClr val="4A5568"/>
                </a:solidFill>
                <a:latin typeface="Aptos"/>
              </a:defRPr>
            </a:pPr>
            <a:r>
              <a:rPr sz="1600" b="1" dirty="0"/>
              <a:t>The clearest market pain is poor support and payment reliability.</a:t>
            </a:r>
          </a:p>
          <a:p>
            <a:pPr>
              <a:spcAft>
                <a:spcPts val="1000"/>
              </a:spcAft>
              <a:defRPr sz="1400">
                <a:solidFill>
                  <a:srgbClr val="4A5568"/>
                </a:solidFill>
                <a:latin typeface="Aptos"/>
              </a:defRPr>
            </a:pPr>
            <a:r>
              <a:rPr sz="1600" b="1" dirty="0"/>
              <a:t>Those failures are recurring across competitor reviews and are highly actionable for sales and messaging</a:t>
            </a:r>
            <a:r>
              <a:rPr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80AD56D5-1475-6AC4-FF91-A0AE43FAD9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 advTm="30723">
        <p159:morph option="byObject"/>
      </p:transition>
    </mc:Choice>
    <mc:Fallback>
      <p:transition advTm="307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Aptos"/>
              </a:rPr>
              <a:t>What the analysis says in business terms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10x better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Negative-review rate vs. Razorpay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60520" y="137160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4x better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Negative-review rate vs. Chargebee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371600"/>
            <a:ext cx="10972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520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Support trust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Main buying criterion reflected in 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D9891F-E6BC-B1EB-9868-86013356D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82478"/>
            <a:ext cx="10551646" cy="3704725"/>
          </a:xfrm>
          <a:prstGeom prst="rect">
            <a:avLst/>
          </a:prstGeom>
        </p:spPr>
      </p:pic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1EA7FD9D-59C9-3B9E-305D-E69777702E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9678">
        <p159:morph option="byObject"/>
      </p:transition>
    </mc:Choice>
    <mc:Fallback>
      <p:transition spd="slow" advTm="3967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>
                <a:solidFill>
                  <a:srgbClr val="4A5568"/>
                </a:solidFill>
                <a:latin typeface="Aptos"/>
              </a:rPr>
              <a:t>How the notebook was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3746" y="1505182"/>
            <a:ext cx="9764202" cy="351845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bIns="91440" rtlCol="0" anchor="ctr"/>
          <a:lstStyle/>
          <a:p>
            <a:pPr algn="ctr"/>
            <a:r>
              <a:rPr lang="en-IN" sz="1400" dirty="0"/>
              <a:t>Data note: Peakflo reviews were sourced from G2, a B2B software platform, while competitor reviews came from Trustpilot, which attracts a broader consumer audience and may surface more negative reviews naturally. This has been accounted for throughout the analysis.</a:t>
            </a:r>
            <a:endParaRPr sz="1400" b="1" dirty="0">
              <a:solidFill>
                <a:srgbClr val="0B1F3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dirty="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491BF-714F-AC8F-FE5F-DEF42393F777}"/>
              </a:ext>
            </a:extLst>
          </p:cNvPr>
          <p:cNvSpPr txBox="1"/>
          <p:nvPr/>
        </p:nvSpPr>
        <p:spPr>
          <a:xfrm>
            <a:off x="2332382" y="2411896"/>
            <a:ext cx="7010401" cy="1232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note: Peakflo reviews were sourced from G2, a B2B software platform, while competitor reviews came from Trustpilot, which attracts a broader consumer audience and may surface more negative reviews naturally. This has been accounted for throughout the analysis.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5F8C6352-3E2B-FF82-2E44-C4C88FB020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8511">
        <p159:morph option="byObject"/>
      </p:transition>
    </mc:Choice>
    <mc:Fallback>
      <p:transition spd="slow" advTm="2851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Aptos"/>
              </a:rPr>
              <a:t>From review scraping to executive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468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Scrape public reviews</a:t>
            </a:r>
          </a:p>
          <a:p>
            <a:pPr>
              <a:defRPr sz="1200">
                <a:solidFill>
                  <a:srgbClr val="4A5568"/>
                </a:solidFill>
                <a:latin typeface="Aptos"/>
              </a:defRPr>
            </a:pPr>
            <a:r>
              <a:t>G2 for Peakflo; Trustpilot for competitors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79" y="1737360"/>
            <a:ext cx="2468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Clean the dataset</a:t>
            </a:r>
          </a:p>
          <a:p>
            <a:pPr>
              <a:defRPr sz="1200">
                <a:solidFill>
                  <a:srgbClr val="4A5568"/>
                </a:solidFill>
                <a:latin typeface="Aptos"/>
              </a:defRPr>
            </a:pPr>
            <a:r>
              <a:t>Remove duplicates, blanks, and very short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2468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Score sentiment</a:t>
            </a:r>
          </a:p>
          <a:p>
            <a:pPr>
              <a:defRPr sz="1200">
                <a:solidFill>
                  <a:srgbClr val="4A5568"/>
                </a:solidFill>
                <a:latin typeface="Aptos"/>
              </a:defRPr>
            </a:pPr>
            <a:r>
              <a:t>Label each review as positive, neutral, or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9" y="1737360"/>
            <a:ext cx="246888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Compare competitors</a:t>
            </a:r>
          </a:p>
          <a:p>
            <a:pPr>
              <a:defRPr sz="1200">
                <a:solidFill>
                  <a:srgbClr val="4A5568"/>
                </a:solidFill>
                <a:latin typeface="Aptos"/>
              </a:defRPr>
            </a:pPr>
            <a:r>
              <a:t>Review volume, negative rate, and sentiment score</a:t>
            </a:r>
          </a:p>
        </p:txBody>
      </p:sp>
      <p:sp>
        <p:nvSpPr>
          <p:cNvPr id="13" name="Chevron 12"/>
          <p:cNvSpPr/>
          <p:nvPr/>
        </p:nvSpPr>
        <p:spPr>
          <a:xfrm>
            <a:off x="10515599" y="3330271"/>
            <a:ext cx="914400" cy="502920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443484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316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Final cleaned review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43484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89120" y="443484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51 / 98 / 92 / 78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Peakflo / Chargebee / Zoho / Razorpay review 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434840"/>
            <a:ext cx="10972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01000" y="4434840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1 story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Unified competitive narrative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443484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sp>
        <p:nvSpPr>
          <p:cNvPr id="21" name="Chevron 12">
            <a:extLst>
              <a:ext uri="{FF2B5EF4-FFF2-40B4-BE49-F238E27FC236}">
                <a16:creationId xmlns:a16="http://schemas.microsoft.com/office/drawing/2014/main" id="{52A71D85-7814-FEE1-F662-12A4D0F0AC1F}"/>
              </a:ext>
            </a:extLst>
          </p:cNvPr>
          <p:cNvSpPr/>
          <p:nvPr/>
        </p:nvSpPr>
        <p:spPr>
          <a:xfrm>
            <a:off x="2103120" y="3337560"/>
            <a:ext cx="914400" cy="502920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12">
            <a:extLst>
              <a:ext uri="{FF2B5EF4-FFF2-40B4-BE49-F238E27FC236}">
                <a16:creationId xmlns:a16="http://schemas.microsoft.com/office/drawing/2014/main" id="{50D185DA-7B60-F3D4-DE8F-FD93DF516D94}"/>
              </a:ext>
            </a:extLst>
          </p:cNvPr>
          <p:cNvSpPr/>
          <p:nvPr/>
        </p:nvSpPr>
        <p:spPr>
          <a:xfrm>
            <a:off x="4937759" y="3330271"/>
            <a:ext cx="914400" cy="502920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12">
            <a:extLst>
              <a:ext uri="{FF2B5EF4-FFF2-40B4-BE49-F238E27FC236}">
                <a16:creationId xmlns:a16="http://schemas.microsoft.com/office/drawing/2014/main" id="{FEBD43D2-2911-642E-9B2D-772BFCDD5CAF}"/>
              </a:ext>
            </a:extLst>
          </p:cNvPr>
          <p:cNvSpPr/>
          <p:nvPr/>
        </p:nvSpPr>
        <p:spPr>
          <a:xfrm>
            <a:off x="7772400" y="3330271"/>
            <a:ext cx="914400" cy="502920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7B251BAF-0ADE-8BCB-60F2-41F0EFEE75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2489">
        <p159:morph option="byObject"/>
      </p:transition>
    </mc:Choice>
    <mc:Fallback>
      <p:transition spd="slow" advTm="324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Aptos"/>
              </a:rPr>
              <a:t>The most important findings from the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Razorpay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Only company with negative average sentiment (-0.255)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728" cy="105156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Chargebee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Long-term users complain about support and pricing fairness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Zoho Books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Support handoffs and slow resolution dominate complaints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43E13A-A936-5ED4-9A95-C0B20AAFD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38267"/>
            <a:ext cx="6501009" cy="35657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0B219F-BFB2-3361-00CF-D0017BB069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249" y="2638267"/>
            <a:ext cx="4635455" cy="3565714"/>
          </a:xfrm>
          <a:prstGeom prst="rect">
            <a:avLst/>
          </a:prstGeom>
        </p:spPr>
      </p:pic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C34A7A02-AF9B-F031-4BDF-18EA1215D0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8563">
        <p159:morph option="byObject"/>
      </p:transition>
    </mc:Choice>
    <mc:Fallback>
      <p:transition spd="slow" advTm="6856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Aptos"/>
              </a:rPr>
              <a:t>What this means for revenue and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486400" cy="3817289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bIns="91440" rtlCol="0" anchor="ctr"/>
          <a:lstStyle/>
          <a:p>
            <a:pPr algn="ctr"/>
            <a:r>
              <a:rPr sz="1400" b="1" dirty="0">
                <a:solidFill>
                  <a:srgbClr val="0B1F3A"/>
                </a:solidFill>
                <a:latin typeface="Aptos"/>
              </a:rPr>
              <a:t>Commercial impact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b="1" dirty="0"/>
              <a:t> </a:t>
            </a:r>
            <a:r>
              <a:rPr lang="en-IN" sz="1300" b="1" dirty="0"/>
              <a:t>Lead sales conversations with support speed and payment reliability as proof points 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lang="en-IN" sz="1300" b="1" dirty="0"/>
              <a:t>Use competitor complaint themes to handle objections before they are raised 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lang="en-IN" sz="1300" b="1" dirty="0"/>
              <a:t>Highlight the 6% negative rate in hiring conversations as a culture signal 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lang="en-IN" sz="1300" b="1" dirty="0"/>
              <a:t>Position Peakflo as the trusted alternative where competitors keep failing</a:t>
            </a:r>
            <a:endParaRPr b="1" dirty="0"/>
          </a:p>
        </p:txBody>
      </p:sp>
      <p:sp>
        <p:nvSpPr>
          <p:cNvPr id="6" name="Rounded Rectangle 5"/>
          <p:cNvSpPr/>
          <p:nvPr/>
        </p:nvSpPr>
        <p:spPr>
          <a:xfrm>
            <a:off x="6492240" y="160020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10x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Lower negative-review rate vs. Razorpay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60020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79408" y="160020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4x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Lower negative-review rate vs. Chargebee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979408" y="1600200"/>
            <a:ext cx="10972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3 / 51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Peakflo negative reviews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92608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79408" y="2926080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65%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Razorpay negative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9408" y="2926080"/>
            <a:ext cx="109728" cy="105156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3771147C-843C-B2C4-4FB4-75E7E3702F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8016">
        <p159:morph option="byObject"/>
      </p:transition>
    </mc:Choice>
    <mc:Fallback>
      <p:transition spd="slow" advTm="580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Aptos"/>
              </a:rPr>
              <a:t>What Peakflo should do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6679" y="1325880"/>
            <a:ext cx="8486692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bIns="91440" rtlCol="0" anchor="ctr"/>
          <a:lstStyle/>
          <a:p>
            <a:pPr algn="ctr"/>
            <a:endParaRPr lang="en-IN" sz="1400" b="1" dirty="0">
              <a:solidFill>
                <a:srgbClr val="0B1F3A"/>
              </a:solidFill>
              <a:latin typeface="Aptos"/>
            </a:endParaRP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lang="en-IN" sz="1600" b="1" dirty="0"/>
              <a:t>Build competitor battle cards from Razorpay, Chargebee and Zoho Books complaint patterns — sales team can use these in every live conversation 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lang="en-IN" sz="1600" b="1" dirty="0"/>
              <a:t>Feature the 6% negative rate and support quality prominently in website copy, case studies and outbound messaging 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Aptos"/>
              </a:defRPr>
            </a:pPr>
            <a:r>
              <a:rPr lang="en-IN" sz="1600" b="1" dirty="0"/>
              <a:t>Repeat this analysis every quarter — review sentiment shifts faster than analyst reports and costs nothing to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40B0D01A-0196-BB07-D291-3F9B9EB520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54769">
        <p159:morph option="byObject"/>
      </p:transition>
    </mc:Choice>
    <mc:Fallback>
      <p:transition spd="slow" advTm="5476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Aptos"/>
              </a:rPr>
              <a:t>Closing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22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A5568"/>
                </a:solidFill>
                <a:latin typeface="Aptos"/>
              </a:rPr>
              <a:t>The business story in one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0B1F3A"/>
                </a:solidFill>
                <a:latin typeface="Aptos"/>
              </a:rPr>
              <a:t>Peakflo’s strongest competitive proof point</a:t>
            </a:r>
            <a:r>
              <a:rPr lang="en-IN" sz="2400" b="1" dirty="0">
                <a:solidFill>
                  <a:srgbClr val="0B1F3A"/>
                </a:solidFill>
                <a:latin typeface="Aptos"/>
              </a:rPr>
              <a:t> is</a:t>
            </a:r>
            <a:r>
              <a:rPr sz="2400" b="1" dirty="0">
                <a:solidFill>
                  <a:srgbClr val="0B1F3A"/>
                </a:solidFill>
                <a:latin typeface="Aptos"/>
              </a:rPr>
              <a:t> exactly where competitors are failing.</a:t>
            </a:r>
            <a:endParaRPr lang="en-IN" sz="2400" b="1" dirty="0">
              <a:solidFill>
                <a:srgbClr val="0B1F3A"/>
              </a:solidFill>
              <a:latin typeface="Aptos"/>
            </a:endParaRPr>
          </a:p>
          <a:p>
            <a:pPr algn="ctr"/>
            <a:r>
              <a:rPr lang="en-IN" sz="2400" dirty="0"/>
              <a:t>Analysis by Jyothi — 316 real customer reviews — June 2026</a:t>
            </a:r>
            <a:endParaRPr sz="2400" b="1" dirty="0">
              <a:solidFill>
                <a:srgbClr val="0B1F3A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20240" y="448056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316 reviews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Evidence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448056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00600" y="448056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3 negatives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Peakflo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4480560"/>
            <a:ext cx="10972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80960" y="448056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137160" rIns="137160" bIns="91440" rtlCol="0" anchor="ctr"/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1 message</a:t>
            </a:r>
          </a:p>
          <a:p>
            <a:r>
              <a:rPr sz="1100">
                <a:solidFill>
                  <a:srgbClr val="4A5568"/>
                </a:solidFill>
                <a:latin typeface="Aptos"/>
              </a:rPr>
              <a:t>What to lead with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4480560"/>
            <a:ext cx="109728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4A5568"/>
                </a:solidFill>
                <a:latin typeface="Aptos"/>
              </a:rPr>
              <a:t>Peakflo Competitive Review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A17CF-33E1-0AD2-C341-06FC2588418C}"/>
              </a:ext>
            </a:extLst>
          </p:cNvPr>
          <p:cNvSpPr txBox="1"/>
          <p:nvPr/>
        </p:nvSpPr>
        <p:spPr>
          <a:xfrm>
            <a:off x="2086555" y="3408926"/>
            <a:ext cx="6891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Analysis by Jyothi — 316 real customer reviews — June 2026</a:t>
            </a:r>
          </a:p>
        </p:txBody>
      </p:sp>
      <p:pic>
        <p:nvPicPr>
          <p:cNvPr id="18" name="Audio 17">
            <a:hlinkClick r:id="" action="ppaction://media"/>
            <a:extLst>
              <a:ext uri="{FF2B5EF4-FFF2-40B4-BE49-F238E27FC236}">
                <a16:creationId xmlns:a16="http://schemas.microsoft.com/office/drawing/2014/main" id="{66676751-9603-2A61-E37C-09AECDB31A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6166">
        <p159:morph option="byObject"/>
      </p:transition>
    </mc:Choice>
    <mc:Fallback>
      <p:transition spd="slow" advTm="261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547</Words>
  <Application>Microsoft Office PowerPoint</Application>
  <PresentationFormat>Widescreen</PresentationFormat>
  <Paragraphs>89</Paragraphs>
  <Slides>8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jyothi</cp:lastModifiedBy>
  <cp:revision>15</cp:revision>
  <dcterms:created xsi:type="dcterms:W3CDTF">2013-01-27T09:14:16Z</dcterms:created>
  <dcterms:modified xsi:type="dcterms:W3CDTF">2026-06-07T10:55:51Z</dcterms:modified>
  <cp:category/>
</cp:coreProperties>
</file>